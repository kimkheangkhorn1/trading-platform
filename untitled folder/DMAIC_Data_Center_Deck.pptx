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9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0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540"/>
                </a:solidFill>
                <a:latin typeface="Calibri"/>
              </a:rPr>
              <a:t>Weighted average annual PUE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PUE</c:v>
                </c:pt>
              </c:strCache>
            </c:strRef>
          </c:tx>
          <c:spPr>
            <a:solidFill>
              <a:srgbClr val="1F6FB2"/>
            </a:solidFill>
            <a:ln w="38100" cap="flat">
              <a:solidFill>
                <a:srgbClr val="1F6FB2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6FB2"/>
              </a:solidFill>
              <a:ln w="9525" cap="flat">
                <a:solidFill>
                  <a:srgbClr val="1F6F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2007</c:v>
                  </c:pt>
                  <c:pt idx="1">
                    <c:v>2011</c:v>
                  </c:pt>
                  <c:pt idx="2">
                    <c:v>2014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2.5</c:v>
                </c:pt>
                <c:pt idx="1">
                  <c:v>1.98</c:v>
                </c:pt>
                <c:pt idx="2">
                  <c:v>1.65</c:v>
                </c:pt>
                <c:pt idx="3">
                  <c:v>1.58</c:v>
                </c:pt>
                <c:pt idx="4">
                  <c:v>1.67</c:v>
                </c:pt>
                <c:pt idx="5">
                  <c:v>1.59</c:v>
                </c:pt>
                <c:pt idx="6">
                  <c:v>1.57</c:v>
                </c:pt>
                <c:pt idx="7">
                  <c:v>1.55</c:v>
                </c:pt>
                <c:pt idx="8">
                  <c:v>1.58</c:v>
                </c:pt>
                <c:pt idx="9">
                  <c:v>1.56</c:v>
                </c:pt>
                <c:pt idx="10">
                  <c:v>1.54</c:v>
                </c:pt>
                <c:pt idx="11">
                  <c:v>1.52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7"/>
          <c:min val="1.3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PUE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F6B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Industry avg 2026</c:v>
                  </c:pt>
                  <c:pt idx="1">
                    <c:v>Largest site avg 2026</c:v>
                  </c:pt>
                  <c:pt idx="2">
                    <c:v>LBNL modelled U.S. 2023</c:v>
                  </c:pt>
                  <c:pt idx="3">
                    <c:v>Project target</c:v>
                  </c:pt>
                  <c:pt idx="4">
                    <c:v>Google fleet 2025</c:v>
                  </c:pt>
                  <c:pt idx="5">
                    <c:v>Google Singapore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1.52</c:v>
                </c:pt>
                <c:pt idx="1">
                  <c:v>1.45</c:v>
                </c:pt>
                <c:pt idx="2">
                  <c:v>1.4</c:v>
                </c:pt>
                <c:pt idx="3">
                  <c:v>1.4</c:v>
                </c:pt>
                <c:pt idx="4">
                  <c:v>1.09</c:v>
                </c:pt>
                <c:pt idx="5">
                  <c:v>1.12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"/>
          <c:min val="1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with impactful outage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</c:v>
                </c:pt>
                <c:pt idx="1">
                  <c:v>69</c:v>
                </c:pt>
                <c:pt idx="2">
                  <c:v>60</c:v>
                </c:pt>
                <c:pt idx="3">
                  <c:v>55</c:v>
                </c:pt>
                <c:pt idx="4">
                  <c:v>53</c:v>
                </c:pt>
                <c:pt idx="5">
                  <c:v>50</c:v>
                </c:pt>
                <c:pt idx="6">
                  <c:v>47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3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540"/>
                </a:solidFill>
                <a:latin typeface="Calibri"/>
              </a:rPr>
              <a:t>Severity, 2026 (n=715)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outages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B7C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B7C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 Severe</c:v>
                  </c:pt>
                  <c:pt idx="1">
                    <c:v>4 Serious</c:v>
                  </c:pt>
                  <c:pt idx="2">
                    <c:v>3 Significant</c:v>
                  </c:pt>
                  <c:pt idx="3">
                    <c:v>2 Minimal</c:v>
                  </c:pt>
                  <c:pt idx="4">
                    <c:v>1 Negligible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17</c:v>
                </c:pt>
                <c:pt idx="3">
                  <c:v>32</c:v>
                </c:pt>
                <c:pt idx="4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540"/>
                </a:solidFill>
                <a:latin typeface="Calibri"/>
              </a:rPr>
              <a:t>Cost of most damaging outage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 $100k</c:v>
                </c:pt>
              </c:strCache>
            </c:strRef>
          </c:tx>
          <c:spPr>
            <a:solidFill>
              <a:srgbClr val="2AB7C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43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$100k–$1M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</c:v>
                </c:pt>
                <c:pt idx="1">
                  <c:v>37</c:v>
                </c:pt>
                <c:pt idx="2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&gt; $1M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540"/>
                </a:solidFill>
                <a:latin typeface="Calibri"/>
              </a:rPr>
              <a:t>Outages judged avoidable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Avoidable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87</c:v>
                </c:pt>
                <c:pt idx="2">
                  <c:v>89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540"/>
                </a:solidFill>
                <a:latin typeface="Calibri"/>
              </a:rPr>
              <a:t>Operators collecting each metric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5DFE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Energy use</c:v>
                  </c:pt>
                  <c:pt idx="1">
                    <c:v>PUE</c:v>
                  </c:pt>
                  <c:pt idx="2">
                    <c:v>Water use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</c:v>
                </c:pt>
                <c:pt idx="1">
                  <c:v>74</c:v>
                </c:pt>
                <c:pt idx="2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Energy use</c:v>
                  </c:pt>
                  <c:pt idx="1">
                    <c:v>PUE</c:v>
                  </c:pt>
                  <c:pt idx="2">
                    <c:v>Water use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</c:v>
                </c:pt>
                <c:pt idx="1">
                  <c:v>79</c:v>
                </c:pt>
                <c:pt idx="2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PUE</c:v>
                </c:pt>
              </c:strCache>
            </c:strRef>
          </c:tx>
          <c:spPr>
            <a:solidFill>
              <a:srgbClr val="1F6FB2"/>
            </a:solidFill>
            <a:ln w="25400" cap="flat">
              <a:solidFill>
                <a:srgbClr val="1F6F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FB2"/>
              </a:solidFill>
              <a:ln w="9525" cap="flat">
                <a:solidFill>
                  <a:srgbClr val="1F6F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1.67</c:v>
                </c:pt>
                <c:pt idx="1">
                  <c:v>1.59</c:v>
                </c:pt>
                <c:pt idx="2">
                  <c:v>1.57</c:v>
                </c:pt>
                <c:pt idx="3">
                  <c:v>1.55</c:v>
                </c:pt>
                <c:pt idx="4">
                  <c:v>1.58</c:v>
                </c:pt>
                <c:pt idx="5">
                  <c:v>1.56</c:v>
                </c:pt>
                <c:pt idx="6">
                  <c:v>1.54</c:v>
                </c:pt>
                <c:pt idx="7">
                  <c:v>1.52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UCL 1.652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1.652</c:v>
                </c:pt>
                <c:pt idx="1">
                  <c:v>1.652</c:v>
                </c:pt>
                <c:pt idx="2">
                  <c:v>1.652</c:v>
                </c:pt>
                <c:pt idx="3">
                  <c:v>1.652</c:v>
                </c:pt>
                <c:pt idx="4">
                  <c:v>1.652</c:v>
                </c:pt>
                <c:pt idx="5">
                  <c:v>1.652</c:v>
                </c:pt>
                <c:pt idx="6">
                  <c:v>1.652</c:v>
                </c:pt>
                <c:pt idx="7">
                  <c:v>1.652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 1.573</c:v>
                </c:pt>
              </c:strCache>
            </c:strRef>
          </c:tx>
          <c:spPr>
            <a:solidFill>
              <a:srgbClr val="5F6B7A"/>
            </a:solidFill>
            <a:ln w="25400" cap="flat">
              <a:solidFill>
                <a:srgbClr val="5F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F6B7A"/>
              </a:solidFill>
              <a:ln w="9525" cap="flat">
                <a:solidFill>
                  <a:srgbClr val="5F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1.573</c:v>
                </c:pt>
                <c:pt idx="1">
                  <c:v>1.573</c:v>
                </c:pt>
                <c:pt idx="2">
                  <c:v>1.573</c:v>
                </c:pt>
                <c:pt idx="3">
                  <c:v>1.573</c:v>
                </c:pt>
                <c:pt idx="4">
                  <c:v>1.573</c:v>
                </c:pt>
                <c:pt idx="5">
                  <c:v>1.573</c:v>
                </c:pt>
                <c:pt idx="6">
                  <c:v>1.573</c:v>
                </c:pt>
                <c:pt idx="7">
                  <c:v>1.573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LCL 1.493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1.493</c:v>
                </c:pt>
                <c:pt idx="1">
                  <c:v>1.493</c:v>
                </c:pt>
                <c:pt idx="2">
                  <c:v>1.493</c:v>
                </c:pt>
                <c:pt idx="3">
                  <c:v>1.493</c:v>
                </c:pt>
                <c:pt idx="4">
                  <c:v>1.493</c:v>
                </c:pt>
                <c:pt idx="5">
                  <c:v>1.493</c:v>
                </c:pt>
                <c:pt idx="6">
                  <c:v>1.493</c:v>
                </c:pt>
                <c:pt idx="7">
                  <c:v>1.493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Target 1.40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1.4</c:v>
                </c:pt>
                <c:pt idx="1">
                  <c:v>1.4</c:v>
                </c:pt>
                <c:pt idx="2">
                  <c:v>1.4</c:v>
                </c:pt>
                <c:pt idx="3">
                  <c:v>1.4</c:v>
                </c:pt>
                <c:pt idx="4">
                  <c:v>1.4</c:v>
                </c:pt>
                <c:pt idx="5">
                  <c:v>1.4</c:v>
                </c:pt>
                <c:pt idx="6">
                  <c:v>1.4</c:v>
                </c:pt>
                <c:pt idx="7">
                  <c:v>1.4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2"/>
          <c:min val="1.35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with outage %</c:v>
                </c:pt>
              </c:strCache>
            </c:strRef>
          </c:tx>
          <c:spPr>
            <a:solidFill>
              <a:srgbClr val="1F6FB2"/>
            </a:solidFill>
            <a:ln w="25400" cap="flat">
              <a:solidFill>
                <a:srgbClr val="1F6F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FB2"/>
              </a:solidFill>
              <a:ln w="9525" cap="flat">
                <a:solidFill>
                  <a:srgbClr val="1F6F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</c:v>
                </c:pt>
                <c:pt idx="1">
                  <c:v>69</c:v>
                </c:pt>
                <c:pt idx="2">
                  <c:v>60</c:v>
                </c:pt>
                <c:pt idx="3">
                  <c:v>55</c:v>
                </c:pt>
                <c:pt idx="4">
                  <c:v>53</c:v>
                </c:pt>
                <c:pt idx="5">
                  <c:v>50</c:v>
                </c:pt>
                <c:pt idx="6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UCL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64.1</c:v>
                </c:pt>
                <c:pt idx="1">
                  <c:v>62.9</c:v>
                </c:pt>
                <c:pt idx="2">
                  <c:v>62.9</c:v>
                </c:pt>
                <c:pt idx="3">
                  <c:v>62.8</c:v>
                </c:pt>
                <c:pt idx="4">
                  <c:v>62.8</c:v>
                </c:pt>
                <c:pt idx="5">
                  <c:v>62.9</c:v>
                </c:pt>
                <c:pt idx="6">
                  <c:v>63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p-bar 57.5%</c:v>
                </c:pt>
              </c:strCache>
            </c:strRef>
          </c:tx>
          <c:spPr>
            <a:solidFill>
              <a:srgbClr val="5F6B7A"/>
            </a:solidFill>
            <a:ln w="25400" cap="flat">
              <a:solidFill>
                <a:srgbClr val="5F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F6B7A"/>
              </a:solidFill>
              <a:ln w="9525" cap="flat">
                <a:solidFill>
                  <a:srgbClr val="5F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57.5</c:v>
                </c:pt>
                <c:pt idx="1">
                  <c:v>57.5</c:v>
                </c:pt>
                <c:pt idx="2">
                  <c:v>57.5</c:v>
                </c:pt>
                <c:pt idx="3">
                  <c:v>57.5</c:v>
                </c:pt>
                <c:pt idx="4">
                  <c:v>57.5</c:v>
                </c:pt>
                <c:pt idx="5">
                  <c:v>57.5</c:v>
                </c:pt>
                <c:pt idx="6">
                  <c:v>57.5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LCL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50.8</c:v>
                </c:pt>
                <c:pt idx="1">
                  <c:v>52</c:v>
                </c:pt>
                <c:pt idx="2">
                  <c:v>52</c:v>
                </c:pt>
                <c:pt idx="3">
                  <c:v>52.2</c:v>
                </c:pt>
                <c:pt idx="4">
                  <c:v>52.1</c:v>
                </c:pt>
                <c:pt idx="5">
                  <c:v>52.1</c:v>
                </c:pt>
                <c:pt idx="6">
                  <c:v>51.9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Target 35%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25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2540"/>
                </a:solidFill>
                <a:latin typeface="Calibri"/>
              </a:rPr>
              <a:t>Drivers of power-related IT outages (n=129; not additive)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power-related outages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UPS failure</c:v>
                  </c:pt>
                  <c:pt idx="1">
                    <c:v>Transfer-switch failure</c:v>
                  </c:pt>
                  <c:pt idx="2">
                    <c:v>Generator failure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34</c:v>
                </c:pt>
                <c:pt idx="2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PUE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Baseline 2026</c:v>
                  </c:pt>
                  <c:pt idx="1">
                    <c:v>Overhead −15% (DeepMind result)</c:v>
                  </c:pt>
                  <c:pt idx="2">
                    <c:v>Overhead −23% (needed for 1.40)</c:v>
                  </c:pt>
                  <c:pt idx="3">
                    <c:v>Google fleet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1.52</c:v>
                </c:pt>
                <c:pt idx="1">
                  <c:v>1.442</c:v>
                </c:pt>
                <c:pt idx="2">
                  <c:v>1.4</c:v>
                </c:pt>
                <c:pt idx="3">
                  <c:v>1.09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5"/>
          <c:min val="1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Fleet quarterly PUE</c:v>
                </c:pt>
              </c:strCache>
            </c:strRef>
          </c:tx>
          <c:spPr>
            <a:solidFill>
              <a:srgbClr val="1F6FB2"/>
            </a:solidFill>
            <a:ln w="25400" cap="flat">
              <a:solidFill>
                <a:srgbClr val="1F6F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F6FB2"/>
              </a:solidFill>
              <a:ln w="9525" cap="flat">
                <a:solidFill>
                  <a:srgbClr val="1F6F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2019</c:v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2020</c:v>
                  </c:pt>
                  <c:pt idx="5">
                    <c:v> </c:v>
                  </c:pt>
                  <c:pt idx="6">
                    <c:v>  </c:v>
                  </c:pt>
                  <c:pt idx="7">
                    <c:v>   </c:v>
                  </c:pt>
                  <c:pt idx="8">
                    <c:v>2021</c:v>
                  </c:pt>
                  <c:pt idx="9">
                    <c:v> </c:v>
                  </c:pt>
                  <c:pt idx="10">
                    <c:v>  </c:v>
                  </c:pt>
                  <c:pt idx="11">
                    <c:v>   </c:v>
                  </c:pt>
                  <c:pt idx="12">
                    <c:v>2022</c:v>
                  </c:pt>
                  <c:pt idx="13">
                    <c:v> </c:v>
                  </c:pt>
                  <c:pt idx="14">
                    <c:v>  </c:v>
                  </c:pt>
                  <c:pt idx="15">
                    <c:v>   </c:v>
                  </c:pt>
                  <c:pt idx="16">
                    <c:v>2023</c:v>
                  </c:pt>
                  <c:pt idx="17">
                    <c:v> </c:v>
                  </c:pt>
                  <c:pt idx="18">
                    <c:v>  </c:v>
                  </c:pt>
                  <c:pt idx="19">
                    <c:v>   </c:v>
                  </c:pt>
                  <c:pt idx="20">
                    <c:v>2024</c:v>
                  </c:pt>
                  <c:pt idx="21">
                    <c:v> </c:v>
                  </c:pt>
                  <c:pt idx="22">
                    <c:v>  </c:v>
                  </c:pt>
                  <c:pt idx="23">
                    <c:v>   </c:v>
                  </c:pt>
                  <c:pt idx="24">
                    <c:v>2025</c:v>
                  </c:pt>
                  <c:pt idx="25">
                    <c:v> </c:v>
                  </c:pt>
                  <c:pt idx="26">
                    <c:v>  </c:v>
                  </c:pt>
                  <c:pt idx="27">
                    <c:v>   </c:v>
                  </c:pt>
                  <c:pt idx="28">
                    <c:v>2026</c:v>
                  </c:pt>
                  <c:pt idx="29">
                    <c:v> 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1.09</c:v>
                </c:pt>
                <c:pt idx="1">
                  <c:v>1.11</c:v>
                </c:pt>
                <c:pt idx="2">
                  <c:v>1.13</c:v>
                </c:pt>
                <c:pt idx="3">
                  <c:v>1.09</c:v>
                </c:pt>
                <c:pt idx="4">
                  <c:v>1.09</c:v>
                </c:pt>
                <c:pt idx="5">
                  <c:v>1.11</c:v>
                </c:pt>
                <c:pt idx="6">
                  <c:v>1.13</c:v>
                </c:pt>
                <c:pt idx="7">
                  <c:v>1.09</c:v>
                </c:pt>
                <c:pt idx="8">
                  <c:v>1.09</c:v>
                </c:pt>
                <c:pt idx="9">
                  <c:v>1.1</c:v>
                </c:pt>
                <c:pt idx="10">
                  <c:v>1.12</c:v>
                </c:pt>
                <c:pt idx="11">
                  <c:v>1.09</c:v>
                </c:pt>
                <c:pt idx="12">
                  <c:v>1.09</c:v>
                </c:pt>
                <c:pt idx="13">
                  <c:v>1.1</c:v>
                </c:pt>
                <c:pt idx="14">
                  <c:v>1.12</c:v>
                </c:pt>
                <c:pt idx="15">
                  <c:v>1.08</c:v>
                </c:pt>
                <c:pt idx="16">
                  <c:v>1.08</c:v>
                </c:pt>
                <c:pt idx="17">
                  <c:v>1.1</c:v>
                </c:pt>
                <c:pt idx="18">
                  <c:v>1.12</c:v>
                </c:pt>
                <c:pt idx="19">
                  <c:v>1.08</c:v>
                </c:pt>
                <c:pt idx="20">
                  <c:v>1.08</c:v>
                </c:pt>
                <c:pt idx="21">
                  <c:v>1.1</c:v>
                </c:pt>
                <c:pt idx="22">
                  <c:v>1.11</c:v>
                </c:pt>
                <c:pt idx="23">
                  <c:v>1.08</c:v>
                </c:pt>
                <c:pt idx="24">
                  <c:v>1.08</c:v>
                </c:pt>
                <c:pt idx="25">
                  <c:v>1.1</c:v>
                </c:pt>
                <c:pt idx="26">
                  <c:v>1.11</c:v>
                </c:pt>
                <c:pt idx="27">
                  <c:v>1.08</c:v>
                </c:pt>
                <c:pt idx="28">
                  <c:v>1.08</c:v>
                </c:pt>
                <c:pt idx="29">
                  <c:v>1.1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UCL 1.144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2019</c:v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2020</c:v>
                  </c:pt>
                  <c:pt idx="5">
                    <c:v> </c:v>
                  </c:pt>
                  <c:pt idx="6">
                    <c:v>  </c:v>
                  </c:pt>
                  <c:pt idx="7">
                    <c:v>   </c:v>
                  </c:pt>
                  <c:pt idx="8">
                    <c:v>2021</c:v>
                  </c:pt>
                  <c:pt idx="9">
                    <c:v> </c:v>
                  </c:pt>
                  <c:pt idx="10">
                    <c:v>  </c:v>
                  </c:pt>
                  <c:pt idx="11">
                    <c:v>   </c:v>
                  </c:pt>
                  <c:pt idx="12">
                    <c:v>2022</c:v>
                  </c:pt>
                  <c:pt idx="13">
                    <c:v> </c:v>
                  </c:pt>
                  <c:pt idx="14">
                    <c:v>  </c:v>
                  </c:pt>
                  <c:pt idx="15">
                    <c:v>   </c:v>
                  </c:pt>
                  <c:pt idx="16">
                    <c:v>2023</c:v>
                  </c:pt>
                  <c:pt idx="17">
                    <c:v> </c:v>
                  </c:pt>
                  <c:pt idx="18">
                    <c:v>  </c:v>
                  </c:pt>
                  <c:pt idx="19">
                    <c:v>   </c:v>
                  </c:pt>
                  <c:pt idx="20">
                    <c:v>2024</c:v>
                  </c:pt>
                  <c:pt idx="21">
                    <c:v> </c:v>
                  </c:pt>
                  <c:pt idx="22">
                    <c:v>  </c:v>
                  </c:pt>
                  <c:pt idx="23">
                    <c:v>   </c:v>
                  </c:pt>
                  <c:pt idx="24">
                    <c:v>2025</c:v>
                  </c:pt>
                  <c:pt idx="25">
                    <c:v> </c:v>
                  </c:pt>
                  <c:pt idx="26">
                    <c:v>  </c:v>
                  </c:pt>
                  <c:pt idx="27">
                    <c:v>   </c:v>
                  </c:pt>
                  <c:pt idx="28">
                    <c:v>2026</c:v>
                  </c:pt>
                  <c:pt idx="29">
                    <c:v> 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1.144</c:v>
                </c:pt>
                <c:pt idx="1">
                  <c:v>1.144</c:v>
                </c:pt>
                <c:pt idx="2">
                  <c:v>1.144</c:v>
                </c:pt>
                <c:pt idx="3">
                  <c:v>1.144</c:v>
                </c:pt>
                <c:pt idx="4">
                  <c:v>1.144</c:v>
                </c:pt>
                <c:pt idx="5">
                  <c:v>1.144</c:v>
                </c:pt>
                <c:pt idx="6">
                  <c:v>1.144</c:v>
                </c:pt>
                <c:pt idx="7">
                  <c:v>1.144</c:v>
                </c:pt>
                <c:pt idx="8">
                  <c:v>1.144</c:v>
                </c:pt>
                <c:pt idx="9">
                  <c:v>1.144</c:v>
                </c:pt>
                <c:pt idx="10">
                  <c:v>1.144</c:v>
                </c:pt>
                <c:pt idx="11">
                  <c:v>1.144</c:v>
                </c:pt>
                <c:pt idx="12">
                  <c:v>1.144</c:v>
                </c:pt>
                <c:pt idx="13">
                  <c:v>1.144</c:v>
                </c:pt>
                <c:pt idx="14">
                  <c:v>1.144</c:v>
                </c:pt>
                <c:pt idx="15">
                  <c:v>1.144</c:v>
                </c:pt>
                <c:pt idx="16">
                  <c:v>1.144</c:v>
                </c:pt>
                <c:pt idx="17">
                  <c:v>1.144</c:v>
                </c:pt>
                <c:pt idx="18">
                  <c:v>1.144</c:v>
                </c:pt>
                <c:pt idx="19">
                  <c:v>1.144</c:v>
                </c:pt>
                <c:pt idx="20">
                  <c:v>1.144</c:v>
                </c:pt>
                <c:pt idx="21">
                  <c:v>1.144</c:v>
                </c:pt>
                <c:pt idx="22">
                  <c:v>1.144</c:v>
                </c:pt>
                <c:pt idx="23">
                  <c:v>1.144</c:v>
                </c:pt>
                <c:pt idx="24">
                  <c:v>1.144</c:v>
                </c:pt>
                <c:pt idx="25">
                  <c:v>1.144</c:v>
                </c:pt>
                <c:pt idx="26">
                  <c:v>1.144</c:v>
                </c:pt>
                <c:pt idx="27">
                  <c:v>1.144</c:v>
                </c:pt>
                <c:pt idx="28">
                  <c:v>1.144</c:v>
                </c:pt>
                <c:pt idx="29">
                  <c:v>1.144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 1.098</c:v>
                </c:pt>
              </c:strCache>
            </c:strRef>
          </c:tx>
          <c:spPr>
            <a:solidFill>
              <a:srgbClr val="5F6B7A"/>
            </a:solidFill>
            <a:ln w="25400" cap="flat">
              <a:solidFill>
                <a:srgbClr val="5F6B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F6B7A"/>
              </a:solidFill>
              <a:ln w="9525" cap="flat">
                <a:solidFill>
                  <a:srgbClr val="5F6B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2019</c:v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2020</c:v>
                  </c:pt>
                  <c:pt idx="5">
                    <c:v> </c:v>
                  </c:pt>
                  <c:pt idx="6">
                    <c:v>  </c:v>
                  </c:pt>
                  <c:pt idx="7">
                    <c:v>   </c:v>
                  </c:pt>
                  <c:pt idx="8">
                    <c:v>2021</c:v>
                  </c:pt>
                  <c:pt idx="9">
                    <c:v> </c:v>
                  </c:pt>
                  <c:pt idx="10">
                    <c:v>  </c:v>
                  </c:pt>
                  <c:pt idx="11">
                    <c:v>   </c:v>
                  </c:pt>
                  <c:pt idx="12">
                    <c:v>2022</c:v>
                  </c:pt>
                  <c:pt idx="13">
                    <c:v> </c:v>
                  </c:pt>
                  <c:pt idx="14">
                    <c:v>  </c:v>
                  </c:pt>
                  <c:pt idx="15">
                    <c:v>   </c:v>
                  </c:pt>
                  <c:pt idx="16">
                    <c:v>2023</c:v>
                  </c:pt>
                  <c:pt idx="17">
                    <c:v> </c:v>
                  </c:pt>
                  <c:pt idx="18">
                    <c:v>  </c:v>
                  </c:pt>
                  <c:pt idx="19">
                    <c:v>   </c:v>
                  </c:pt>
                  <c:pt idx="20">
                    <c:v>2024</c:v>
                  </c:pt>
                  <c:pt idx="21">
                    <c:v> </c:v>
                  </c:pt>
                  <c:pt idx="22">
                    <c:v>  </c:v>
                  </c:pt>
                  <c:pt idx="23">
                    <c:v>   </c:v>
                  </c:pt>
                  <c:pt idx="24">
                    <c:v>2025</c:v>
                  </c:pt>
                  <c:pt idx="25">
                    <c:v> </c:v>
                  </c:pt>
                  <c:pt idx="26">
                    <c:v>  </c:v>
                  </c:pt>
                  <c:pt idx="27">
                    <c:v>   </c:v>
                  </c:pt>
                  <c:pt idx="28">
                    <c:v>2026</c:v>
                  </c:pt>
                  <c:pt idx="29">
                    <c:v> 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1.098</c:v>
                </c:pt>
                <c:pt idx="1">
                  <c:v>1.098</c:v>
                </c:pt>
                <c:pt idx="2">
                  <c:v>1.098</c:v>
                </c:pt>
                <c:pt idx="3">
                  <c:v>1.098</c:v>
                </c:pt>
                <c:pt idx="4">
                  <c:v>1.098</c:v>
                </c:pt>
                <c:pt idx="5">
                  <c:v>1.098</c:v>
                </c:pt>
                <c:pt idx="6">
                  <c:v>1.098</c:v>
                </c:pt>
                <c:pt idx="7">
                  <c:v>1.098</c:v>
                </c:pt>
                <c:pt idx="8">
                  <c:v>1.098</c:v>
                </c:pt>
                <c:pt idx="9">
                  <c:v>1.098</c:v>
                </c:pt>
                <c:pt idx="10">
                  <c:v>1.098</c:v>
                </c:pt>
                <c:pt idx="11">
                  <c:v>1.098</c:v>
                </c:pt>
                <c:pt idx="12">
                  <c:v>1.098</c:v>
                </c:pt>
                <c:pt idx="13">
                  <c:v>1.098</c:v>
                </c:pt>
                <c:pt idx="14">
                  <c:v>1.098</c:v>
                </c:pt>
                <c:pt idx="15">
                  <c:v>1.098</c:v>
                </c:pt>
                <c:pt idx="16">
                  <c:v>1.098</c:v>
                </c:pt>
                <c:pt idx="17">
                  <c:v>1.098</c:v>
                </c:pt>
                <c:pt idx="18">
                  <c:v>1.098</c:v>
                </c:pt>
                <c:pt idx="19">
                  <c:v>1.098</c:v>
                </c:pt>
                <c:pt idx="20">
                  <c:v>1.098</c:v>
                </c:pt>
                <c:pt idx="21">
                  <c:v>1.098</c:v>
                </c:pt>
                <c:pt idx="22">
                  <c:v>1.098</c:v>
                </c:pt>
                <c:pt idx="23">
                  <c:v>1.098</c:v>
                </c:pt>
                <c:pt idx="24">
                  <c:v>1.098</c:v>
                </c:pt>
                <c:pt idx="25">
                  <c:v>1.098</c:v>
                </c:pt>
                <c:pt idx="26">
                  <c:v>1.098</c:v>
                </c:pt>
                <c:pt idx="27">
                  <c:v>1.098</c:v>
                </c:pt>
                <c:pt idx="28">
                  <c:v>1.098</c:v>
                </c:pt>
                <c:pt idx="29">
                  <c:v>1.098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LCL 1.051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2019</c:v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2020</c:v>
                  </c:pt>
                  <c:pt idx="5">
                    <c:v> </c:v>
                  </c:pt>
                  <c:pt idx="6">
                    <c:v>  </c:v>
                  </c:pt>
                  <c:pt idx="7">
                    <c:v>   </c:v>
                  </c:pt>
                  <c:pt idx="8">
                    <c:v>2021</c:v>
                  </c:pt>
                  <c:pt idx="9">
                    <c:v> </c:v>
                  </c:pt>
                  <c:pt idx="10">
                    <c:v>  </c:v>
                  </c:pt>
                  <c:pt idx="11">
                    <c:v>   </c:v>
                  </c:pt>
                  <c:pt idx="12">
                    <c:v>2022</c:v>
                  </c:pt>
                  <c:pt idx="13">
                    <c:v> </c:v>
                  </c:pt>
                  <c:pt idx="14">
                    <c:v>  </c:v>
                  </c:pt>
                  <c:pt idx="15">
                    <c:v>   </c:v>
                  </c:pt>
                  <c:pt idx="16">
                    <c:v>2023</c:v>
                  </c:pt>
                  <c:pt idx="17">
                    <c:v> </c:v>
                  </c:pt>
                  <c:pt idx="18">
                    <c:v>  </c:v>
                  </c:pt>
                  <c:pt idx="19">
                    <c:v>   </c:v>
                  </c:pt>
                  <c:pt idx="20">
                    <c:v>2024</c:v>
                  </c:pt>
                  <c:pt idx="21">
                    <c:v> </c:v>
                  </c:pt>
                  <c:pt idx="22">
                    <c:v>  </c:v>
                  </c:pt>
                  <c:pt idx="23">
                    <c:v>   </c:v>
                  </c:pt>
                  <c:pt idx="24">
                    <c:v>2025</c:v>
                  </c:pt>
                  <c:pt idx="25">
                    <c:v> </c:v>
                  </c:pt>
                  <c:pt idx="26">
                    <c:v>  </c:v>
                  </c:pt>
                  <c:pt idx="27">
                    <c:v>   </c:v>
                  </c:pt>
                  <c:pt idx="28">
                    <c:v>2026</c:v>
                  </c:pt>
                  <c:pt idx="29">
                    <c:v> </c:v>
                  </c:pt>
                </c:lvl>
              </c:multiLvlStrCache>
            </c:multiLvl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1.051</c:v>
                </c:pt>
                <c:pt idx="1">
                  <c:v>1.051</c:v>
                </c:pt>
                <c:pt idx="2">
                  <c:v>1.051</c:v>
                </c:pt>
                <c:pt idx="3">
                  <c:v>1.051</c:v>
                </c:pt>
                <c:pt idx="4">
                  <c:v>1.051</c:v>
                </c:pt>
                <c:pt idx="5">
                  <c:v>1.051</c:v>
                </c:pt>
                <c:pt idx="6">
                  <c:v>1.051</c:v>
                </c:pt>
                <c:pt idx="7">
                  <c:v>1.051</c:v>
                </c:pt>
                <c:pt idx="8">
                  <c:v>1.051</c:v>
                </c:pt>
                <c:pt idx="9">
                  <c:v>1.051</c:v>
                </c:pt>
                <c:pt idx="10">
                  <c:v>1.051</c:v>
                </c:pt>
                <c:pt idx="11">
                  <c:v>1.051</c:v>
                </c:pt>
                <c:pt idx="12">
                  <c:v>1.051</c:v>
                </c:pt>
                <c:pt idx="13">
                  <c:v>1.051</c:v>
                </c:pt>
                <c:pt idx="14">
                  <c:v>1.051</c:v>
                </c:pt>
                <c:pt idx="15">
                  <c:v>1.051</c:v>
                </c:pt>
                <c:pt idx="16">
                  <c:v>1.051</c:v>
                </c:pt>
                <c:pt idx="17">
                  <c:v>1.051</c:v>
                </c:pt>
                <c:pt idx="18">
                  <c:v>1.051</c:v>
                </c:pt>
                <c:pt idx="19">
                  <c:v>1.051</c:v>
                </c:pt>
                <c:pt idx="20">
                  <c:v>1.051</c:v>
                </c:pt>
                <c:pt idx="21">
                  <c:v>1.051</c:v>
                </c:pt>
                <c:pt idx="22">
                  <c:v>1.051</c:v>
                </c:pt>
                <c:pt idx="23">
                  <c:v>1.051</c:v>
                </c:pt>
                <c:pt idx="24">
                  <c:v>1.051</c:v>
                </c:pt>
                <c:pt idx="25">
                  <c:v>1.051</c:v>
                </c:pt>
                <c:pt idx="26">
                  <c:v>1.051</c:v>
                </c:pt>
                <c:pt idx="27">
                  <c:v>1.051</c:v>
                </c:pt>
                <c:pt idx="28">
                  <c:v>1.051</c:v>
                </c:pt>
                <c:pt idx="29">
                  <c:v>1.051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.16"/>
          <c:min val="1.04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follows the two example documents: a full report (PDF) and a per-stage DMAIC deck. All numbers are from cited public sources; arithmetic is marked "computed".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Baselines are the Uptime Global Data Center Survey 2026. Targets are design choices anchored to cited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LBNL: 176 TWh in 2023 = 4.4% of US electricity; 325-580 TWh in 2028 (6.7%-12.0%). Uptime 2026: cost concern 79% (at least somewhat concerned); 19% of significant outages cost &gt;$1M.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 definition: total facility energy divided by IT equipment energy (The Green Grid, 2007) as described by Uptime.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author design choices anchored to cited benchmarks: 1.40 equals the LBNL modelled U.S. average (2023) and the proposed German 2030 limit; 79% equals the current PUE-tracking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the facility-management process. Roles are proposed design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 self-reported survey, not a random sample (52% of respondents in North America and Europe), PUE for largest site, LBNL values are modelled.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Series: 2.50 (2007), 1.98 (2011), 1.65 (2014), 1.58 (2018), 1.67 (2019), 1.59, 1.57, 1.55, 1.58, 1.56, 1.54, 1.52 (2026). Note the category axis is not evenly spaced in time before 2018. 1.65 to 1.52 = -0.13 over 12 years (computed).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Uptime largest-site average 1.45; 23% of respondents below 1.3; LBNL modelled U.S. 1.4 (2023, assumes systems run as designed); Google fleet 1.09 (2025 TTM), Singapore 1.12 (Q2 2026 TTM).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operators with an impactful outage in the past three years: 74, 69, 60, 55, 53, 50, 47 percent (n = 494, 730, 730, 781, 768, 754, 715). 95% CI for 2026: 43%-51% (computed).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2026 (n=715): 41/32/17/7/3 percent for categories 1-5. Cost of most damaging outage: 2024 (n=91) 46/33/20; 2025 (n=94) 43/37/20; 2026 (n=77) 29/52/19 percent. Percentages as printed; 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Avoidable outages: 80% (2024), 87% (2025), 89% (2026). Tracking 2025 vs 2026: energy 84 to 87, PUE 74 to 79, water 47 to 53 (n = 617 / 593). Water change z = 2.09, p = 0.037 (computed).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Individuals chart: CL = mean of 8 points; limits = CL +/- 2.66 x average moving range. All points within limits: stable process. Regression slope 2020-2026 = -0.0093/yr.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p-chart: p-bar = n-weighted mean 57.5%; limits = p-bar +/- 3 sqrt(p(1-p)/n) using each year n. 2020-2022 above UCL; 2025 and 2026 below LCL. z(2020 vs 2026) = 9.35.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entry is a published figure: hiring 53%, electrical skills gap 38%, retention issues 33%, procedures 85% of human-error outages, 89% avoidable, 27% of sites &gt;15 years, water tracked 53%, server utilisation tracked ~42%, cost concern 79%, capacity forecasting 76%.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2026: power 56% of primary causes (n=85; 45% in 2025, 54% in 2024). Power-related IT outages (n=129, multiple answers): UPS 39%, transfer switch 34%, generator 28%. Uptime cautions that the 2025 power share looked unusually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Newer sites 1.48 vs 1.54 (2025 survey); &gt;=20 MW 1.44 vs 1.54 (2025); largest site 1.45 vs 1.52 (2026); Google Singapore Q2 2026 TTM 1.12 and 1.15 vs fleet 1.09; Q3 mean 1.120 vs Q4 1.084 (computed from 30 quarters).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Why-chains are a synthesis of cited evidence, not measured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Why-chains are a synthesis of cited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Evidence: PUE 2.50 to 1.65 (2007-2014) from first-wave measures; ML cooling -40% cooling energy, -15% PUE overhead; 71% trust AI for analytics vs 31% for setpoint control; power-chain failures 39/34/28; 85% procedures; LBNL WUE 0.36 L/kWh average, hyperscale 0.1-0.3.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and effort ratings are the author's qualitative judgement (marked as such), informed by the cited evidence; they are not measured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 = 1 + overhead. 1 + 0.52 x 0.85 = 1.442. Needed overhead 0.40 =&gt; 23.1% reduction. Google overhead 0.09 is 83% below the industry 0.52.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cadence for an operator adopting the method. Not executed at a real facility, so no measured after-results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Numeric limits for a site must come from that site's own first 12 months of data. Roles are proposed.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fleet quarterly PUE, 2019Q1-2026Q2 (30 points). CL 1.098, UCL 1.144, LCL 1.051 (individuals chart). Q3 mean 1.120, Q4 mean 1.084.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are proposed design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MW x 8,760 h = 8,760 MWh IT. Facility energy = IT x PUE. No money value is claimed: it requires a verified local tariff.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limitation: published aggregates, no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accessed 28-30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eta-publications.lbl.gov/sites/default/files/2024-12/lbnl-2024-united-states-data-center-energy-usage-report_1.pdf" TargetMode="External"/><Relationship Id="rId2" Type="http://schemas.openxmlformats.org/officeDocument/2006/relationships/hyperlink" Target="https://newscenter.lbl.gov/2025/01/15/berkeley-lab-report-evaluates-increase-in-electricity-demand-from-data-centers/" TargetMode="External"/><Relationship Id="rId3" Type="http://schemas.openxmlformats.org/officeDocument/2006/relationships/hyperlink" Target="https://datacenter.uptimeinstitute.com/rs/711-RIA-145/images/UptimeInstitute.GlobalDataCenterSurvey.2026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www.whitecase.com/insight-alert/data-center-requirements-under-new-german-energy-efficiency-act" TargetMode="External"/><Relationship Id="rId3" Type="http://schemas.openxmlformats.org/officeDocument/2006/relationships/hyperlink" Target="https://www.gleisslutz.com/en/know-how/data-centre-update-draft-bill-amend-energy-efficiency-act" TargetMode="External"/><Relationship Id="rId4" Type="http://schemas.openxmlformats.org/officeDocument/2006/relationships/hyperlink" Target="https://eta-publications.lbl.gov/sites/default/files/2024-12/lbnl-2024-united-states-data-center-energy-usage-report_1.pd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datacenters.google/efficiency/" TargetMode="External"/><Relationship Id="rId3" Type="http://schemas.openxmlformats.org/officeDocument/2006/relationships/hyperlink" Target="https://eta-publications.lbl.gov/sites/default/files/2024-12/lbnl-2024-united-states-data-center-energy-usage-report_1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2025.Annual.Survey.Report.pdf?version=0" TargetMode="External"/><Relationship Id="rId2" Type="http://schemas.openxmlformats.org/officeDocument/2006/relationships/hyperlink" Target="https://datacenter.uptimeinstitute.com/rs/711-RIA-145/images/UptimeInstitute.GlobalDataCenterSurvey.2026.pdf" TargetMode="External"/><Relationship Id="rId3" Type="http://schemas.openxmlformats.org/officeDocument/2006/relationships/chart" Target="/ppt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eta-publications.lbl.gov/sites/default/files/2024-12/lbnl-2024-united-states-data-center-energy-usage-report_1.pdf" TargetMode="External"/><Relationship Id="rId3" Type="http://schemas.openxmlformats.org/officeDocument/2006/relationships/hyperlink" Target="https://datacenters.google/efficiency/" TargetMode="External"/><Relationship Id="rId4" Type="http://schemas.openxmlformats.org/officeDocument/2006/relationships/chart" Target="/ppt/charts/chart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datacenter.uptimeinstitute.com/rs/711-RIA-145/images/2025.Annual.Survey.Report.pdf?version=0" TargetMode="External"/><Relationship Id="rId3" Type="http://schemas.openxmlformats.org/officeDocument/2006/relationships/chart" Target="/ppt/charts/chart4.xml"/><Relationship Id="rId4" Type="http://schemas.openxmlformats.org/officeDocument/2006/relationships/chart" Target="/ppt/charts/chart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datacenter.uptimeinstitute.com/rs/711-RIA-145/images/2025.Annual.Survey.Report.pdf?version=0" TargetMode="External"/><Relationship Id="rId3" Type="http://schemas.openxmlformats.org/officeDocument/2006/relationships/chart" Target="/ppt/charts/chart6.xml"/><Relationship Id="rId4" Type="http://schemas.openxmlformats.org/officeDocument/2006/relationships/chart" Target="/ppt/charts/chart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2025.Annual.Survey.Report.pdf?version=0" TargetMode="External"/><Relationship Id="rId2" Type="http://schemas.openxmlformats.org/officeDocument/2006/relationships/hyperlink" Target="https://datacenter.uptimeinstitute.com/rs/711-RIA-145/images/UptimeInstitute.GlobalDataCenterSurvey.2026.pdf" TargetMode="Externa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uptimeinstitute.com/about-ui/press-releases/uptime-announces-annual-outage-analysis-report-2025" TargetMode="External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2025.Annual.Survey.Report.pdf?version=0" TargetMode="External"/><Relationship Id="rId2" Type="http://schemas.openxmlformats.org/officeDocument/2006/relationships/hyperlink" Target="https://datacenter.uptimeinstitute.com/rs/711-RIA-145/images/UptimeInstitute.GlobalDataCenterSurvey.2026.pdf" TargetMode="External"/><Relationship Id="rId3" Type="http://schemas.openxmlformats.org/officeDocument/2006/relationships/hyperlink" Target="https://datacenters.google/efficiency/" TargetMode="External"/><Relationship Id="rId4" Type="http://schemas.openxmlformats.org/officeDocument/2006/relationships/hyperlink" Target="https://uptimeinstitute.com/about-ui/press-releases/uptime-announces-annual-outage-analysis-report-2025" TargetMode="External"/><Relationship Id="rId5" Type="http://schemas.openxmlformats.org/officeDocument/2006/relationships/hyperlink" Target="https://deepmind.google/blog/deepmind-ai-reduces-google-data-centre-cooling-bill-by-40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datacenter.uptimeinstitute.com/rs/711-RIA-145/images/2025.Annual.Survey.Report.pdf?version=0" TargetMode="External"/><Relationship Id="rId3" Type="http://schemas.openxmlformats.org/officeDocument/2006/relationships/hyperlink" Target="https://uptimeinstitute.com/about-ui/press-releases/uptime-announces-annual-outage-analysis-report-2025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uptimeinstitute.com/about-ui/press-releases/uptime-announces-annual-outage-analysis-report-2025" TargetMode="External"/><Relationship Id="rId3" Type="http://schemas.openxmlformats.org/officeDocument/2006/relationships/hyperlink" Target="https://eta-publications.lbl.gov/sites/default/files/2024-12/lbnl-2024-united-states-data-center-energy-usage-report_1.pd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datacenter.uptimeinstitute.com/rs/711-RIA-145/images/2025.Annual.Survey.Report.pdf?version=0" TargetMode="External"/><Relationship Id="rId3" Type="http://schemas.openxmlformats.org/officeDocument/2006/relationships/hyperlink" Target="https://uptimeinstitute.com/about-ui/press-releases/uptime-announces-annual-outage-analysis-report-2025" TargetMode="External"/><Relationship Id="rId4" Type="http://schemas.openxmlformats.org/officeDocument/2006/relationships/hyperlink" Target="https://deepmind.google/blog/deepmind-ai-reduces-google-data-centre-cooling-bill-by-40/" TargetMode="External"/><Relationship Id="rId5" Type="http://schemas.openxmlformats.org/officeDocument/2006/relationships/hyperlink" Target="https://eta-publications.lbl.gov/sites/default/files/2024-12/lbnl-2024-united-states-data-center-energy-usage-report_1.pdf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deepmind.google/blog/deepmind-ai-reduces-google-data-centre-cooling-bill-by-40/" TargetMode="External"/><Relationship Id="rId3" Type="http://schemas.openxmlformats.org/officeDocument/2006/relationships/hyperlink" Target="https://datacenters.google/efficiency/" TargetMode="External"/><Relationship Id="rId4" Type="http://schemas.openxmlformats.org/officeDocument/2006/relationships/chart" Target="/ppt/charts/chart1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s.google/efficiency/" TargetMode="Externa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center.uptimeinstitute.com/rs/711-RIA-145/images/UptimeInstitute.GlobalDataCenterSurvey.2026.pdf" TargetMode="External"/><Relationship Id="rId2" Type="http://schemas.openxmlformats.org/officeDocument/2006/relationships/hyperlink" Target="https://datacenter.uptimeinstitute.com/rs/711-RIA-145/images/2025.Annual.Survey.Report.pdf?version=0" TargetMode="External"/><Relationship Id="rId3" Type="http://schemas.openxmlformats.org/officeDocument/2006/relationships/hyperlink" Target="https://uptimeinstitute.com/about-ui/press-releases/uptime-announces-annual-outage-analysis-report-2025" TargetMode="External"/><Relationship Id="rId4" Type="http://schemas.openxmlformats.org/officeDocument/2006/relationships/hyperlink" Target="https://uptimeinstitute.com/about-ui/press-releases/uptime-announces-annual-outage-analysis-report-2026" TargetMode="External"/><Relationship Id="rId5" Type="http://schemas.openxmlformats.org/officeDocument/2006/relationships/hyperlink" Target="https://eta-publications.lbl.gov/sites/default/files/2024-12/lbnl-2024-united-states-data-center-energy-usage-report_1.pdf" TargetMode="External"/><Relationship Id="rId6" Type="http://schemas.openxmlformats.org/officeDocument/2006/relationships/hyperlink" Target="https://datacenters.google/efficiency/" TargetMode="External"/><Relationship Id="rId7" Type="http://schemas.openxmlformats.org/officeDocument/2006/relationships/hyperlink" Target="https://deepmind.google/blog/deepmind-ai-reduces-google-data-centre-cooling-bill-by-40/" TargetMode="External"/><Relationship Id="rId8" Type="http://schemas.openxmlformats.org/officeDocument/2006/relationships/hyperlink" Target="https://www.whitecase.com/insight-alert/data-center-requirements-under-new-german-energy-efficiency-act" TargetMode="External"/><Relationship Id="rId9" Type="http://schemas.openxmlformats.org/officeDocument/2006/relationships/hyperlink" Target="https://www.gleisslutz.com/en/know-how/data-centre-update-draft-bill-amend-energy-efficiency-act" TargetMode="External"/><Relationship Id="rId10" Type="http://schemas.openxmlformats.org/officeDocument/2006/relationships/hyperlink" Target="https://uptimeinstitute.com/about-ui/press-releases/16th-annual-2026-global-data-center-survey-deployment-of-high-density-racks-rising-fast-operators-face-continued-recruiting-and-retention-pressures" TargetMode="External"/><Relationship Id="rId11" Type="http://schemas.openxmlformats.org/officeDocument/2006/relationships/hyperlink" Target="https://intelligence.uptimeinstitute.com/resource/annual-outage-analysis-2026" TargetMode="External"/><Relationship Id="rId12" Type="http://schemas.openxmlformats.org/officeDocument/2006/relationships/hyperlink" Target="https://newscenter.lbl.gov/2025/01/15/berkeley-lab-report-evaluates-increase-in-electricity-demand-from-data-centers/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SIX SIGMA  ·  DMAIC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 Energy Efficiency and Reliability of Data Centers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industry-level case built only on published, sourced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cut-off: 30 September 2026  ·  Latest source: Uptime Global Data Center Survey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0" y="7315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2355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1005840"/>
            <a:ext cx="128016" cy="128016"/>
          </a:xfrm>
          <a:prstGeom prst="ellipse">
            <a:avLst/>
          </a:prstGeom>
          <a:solidFill>
            <a:srgbClr val="2AB7CA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22592" y="1005840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78624" y="1005840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941832"/>
            <a:ext cx="868680" cy="256032"/>
          </a:xfrm>
          <a:prstGeom prst="rect">
            <a:avLst/>
          </a:prstGeom>
          <a:solidFill>
            <a:srgbClr val="0B2540"/>
          </a:solidFill>
          <a:ln w="9525">
            <a:solidFill>
              <a:srgbClr val="2C5A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691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2355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965960"/>
            <a:ext cx="128016" cy="128016"/>
          </a:xfrm>
          <a:prstGeom prst="ellipse">
            <a:avLst/>
          </a:prstGeom>
          <a:solidFill>
            <a:srgbClr val="2AB7CA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2592" y="196596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78624" y="196596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1901952"/>
            <a:ext cx="868680" cy="256032"/>
          </a:xfrm>
          <a:prstGeom prst="rect">
            <a:avLst/>
          </a:prstGeom>
          <a:solidFill>
            <a:srgbClr val="0B2540"/>
          </a:solidFill>
          <a:ln w="9525">
            <a:solidFill>
              <a:srgbClr val="2C5A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6517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2355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926080"/>
            <a:ext cx="128016" cy="128016"/>
          </a:xfrm>
          <a:prstGeom prst="ellipse">
            <a:avLst/>
          </a:prstGeom>
          <a:solidFill>
            <a:srgbClr val="2AB7CA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2926080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8624" y="2926080"/>
            <a:ext cx="128016" cy="12801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862072"/>
            <a:ext cx="868680" cy="256032"/>
          </a:xfrm>
          <a:prstGeom prst="rect">
            <a:avLst/>
          </a:prstGeom>
          <a:solidFill>
            <a:srgbClr val="0B2540"/>
          </a:solidFill>
          <a:ln w="9525">
            <a:solidFill>
              <a:srgbClr val="2C5A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6118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2355A"/>
          </a:solidFill>
          <a:ln w="12700">
            <a:solidFill>
              <a:srgbClr val="2AB7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3886200"/>
            <a:ext cx="128016" cy="128016"/>
          </a:xfrm>
          <a:prstGeom prst="ellipse">
            <a:avLst/>
          </a:prstGeom>
          <a:solidFill>
            <a:srgbClr val="2AB7CA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22592" y="388620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3886200"/>
            <a:ext cx="128016" cy="12801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23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3822192"/>
            <a:ext cx="868680" cy="256032"/>
          </a:xfrm>
          <a:prstGeom prst="rect">
            <a:avLst/>
          </a:prstGeom>
          <a:solidFill>
            <a:srgbClr val="0B2540"/>
          </a:solidFill>
          <a:ln w="9525">
            <a:solidFill>
              <a:srgbClr val="2C5A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only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a cited public source, with a clickable link.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simulated or invented data; calculations are labelled "computed".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pilot was run: the Improve stage uses published results and transparent projections.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60520" y="105156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97680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5087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1.52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→  target ≤ 1.40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105156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incidence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150876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→  target ≤ 35%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60520" y="283464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97680" y="2926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outages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32918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→  target ≤ 75%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46520" y="283464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0" y="2926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Water-use tracking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2918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→  target ≥ 79%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16052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CTQs, baseline (2026) vs project target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centers?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eta-publications.lbl.gov/sites/default/files/2024-12/lbnl-2024-united-states-data-center-energy-usage-report_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LBNL 2024 U.S. Data Center Energy Report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newscenter.lbl.gov/2025/01/15/berkeley-lab-report-evaluates-increase-in-electricity-demand-from-data-center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 Berkeley Lab news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52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176 TWh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562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data-center electricity in 2023, up from 58 TWh in 2014 (4.4% of U.S. electricity)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252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325–580 TWh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8562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U.S. data-center electricity in 2028 (6.7%–12.0% of U.S. electricity)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143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252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85623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operators say management is at least somewhat concerned about cost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1729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7764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operators with a significant outage put its cost above $1 million (2026)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31729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37764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operators work in data centers older than 15 years, which slows efficiency gains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Define: problem statement and CTQs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109728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Industry-average performance is below target on all four CTQs: PUE 1.52; 47% of operators had an impactful outage in three years; 89% of impactful outages were avoidable; only 53% track water use.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2860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CTQ metrics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28600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= total facility energy ÷ IT energy.  Outage incidence = % of operators with ≥ 1 impactful outage in 3 years.  Preventability = % of outages avoidable.  Water tracking = % of operators collecting water data.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4747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constraint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34747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efficiency gains (containment, setpoints, controls) are already taken; legacy sites are costly to retrofit; staff and power availability are limited.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Define: specifications and targets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(full list on last slide):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www.whitecase.com/insight-alert/data-center-requirements-under-new-german-energy-efficiency-a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www.gleisslutz.com/en/know-how/data-centre-update-draft-bill-amend-energy-efficiency-a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eta-publications.lbl.gov/sites/default/files/2024-12/lbnl-2024-united-states-data-center-energy-usage-report_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46304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≤ 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≤ 1.40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 limit for existing sites (1.5, 2027); LBNL modelled U.S. average 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Outage incidence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serious/severe outage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35% per 3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~29% of avoidable outages eliminated (computed)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Outage preventability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avoidable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outage reviewed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75% avoidable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 80% → 89% since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Water-use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reports annual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79% of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 with PUE tracking (79%)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Define: scope and SIPOC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· equipment vendors · water utility · IT tenants · staff and contractors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21408" y="10972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12848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212848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power · IT load · cooling water · procedures · maintenance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85616" y="10972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77056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77056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power → back up → power IT → remove heat → monitor → meter and report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49824" y="10972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41264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541264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IT capacity · PUE / WUE · outage log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14032" y="1097280"/>
            <a:ext cx="1554480" cy="210312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05472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205472" y="1600200"/>
            <a:ext cx="137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· regulators · community and investors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chain, cooling and heat rejection, procedures, metering and reporting.   </a:t>
            </a:r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construction, IT applications, server purchasing, pricing.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Measure: data collection methodology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s.google/efficiency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 Google PUE data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eta-publications.lbl.gov/sites/default/files/2024-12/lbnl-2024-united-states-data-center-energy-usage-report_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LBNL 2024 U.S. Data Center Energy Report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data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10972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Institute Global Data Center Surveys 2025 and 2026 (&gt;800 owners and operators each; PUE n=644 in 2026, outage n=715).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196596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measured fleet PUE (quarterly, 2019–2026); LBNL modelled U.S. PUE, WUE and energy.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8346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exactly as published; no re-definition after seeing results.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377440" y="370332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Self-reported; not a random sample; PUE differs by boundary; small samples for outage cost (n=77).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CTQ 1: industry PUE, 2007–2026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Uptime Global Data Center Survey 2025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10972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12070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2.50 → 1.52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181051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to 2026: most of the drop came before 2014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265176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0" y="276148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−0.13</a:t>
            </a:r>
            <a:endParaRPr lang="en-US" sz="3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33649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to 2026 (1.65 → 1.52): only 12 years of slow progress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CTQ 1: where the 1.52 sits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eta-publications.lbl.gov/sites/default/files/2024-12/lbnl-2024-united-states-data-center-energy-usage-report_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LBNL 2024 U.S. Data Center Energy Report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datacenters.google/efficiency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 Google PUE data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definitions differ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355080" y="10972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92240" y="12070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18105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already run a data center below PUE 1.3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26060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92240" y="27157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 vs 0.09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31927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per kWh of IT: industry vs Google fleet (83% less)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CTQ 2: impactful-outage incidence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263640" y="109728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0" y="12070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1810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≥ 1 impactful outage in 3 years (95% CI 43%–51%, computed)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2606040"/>
            <a:ext cx="2423160" cy="15544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0" y="27157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0.25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33192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→ 2026 change (50% → 47%) is not statistically significant: progress has slowed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CTQ 2: severity and cost of outages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Uptime Global Data Center Survey 2025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480560" y="100584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CTQ 3 and 4: preventability and water tracking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Uptime Global Data Center Survey 2025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480560" y="1005840"/>
          <a:ext cx="4297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impactful outages could have been avoided with better management, processes or configuration.  Water is tracked by 53% vs 79% for PUE.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chart: industry PUE (I-MR)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Uptime Global Data Center Survey 2025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limits computed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943600" y="109728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limit parameters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line 1.573; UCL 1.652; LCL 1.493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interpretation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points are inside the limits: PUE is a stable process improving gradually, not a step change.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−0.0093 per year, reaching 1.40 would take about 13 years (computed).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chart: outage incidence (p-chart)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limits computed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943600" y="109728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interpretation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2020–2022 lie above and 2025–2026 below the control limits: a real, sustained improvement.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vs 2026: z = 9.35, p &lt; 0.001.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2026: p = 0.25 — the recent change is within noise.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35% needs a deliberate programme, not just the trend.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Analyze: fishbone diagram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uptimeinstitute.com/about-ui/press-releases/uptime-announces-annual-outage-analysis-report-20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Uptime Outage Analysis 2025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8" name="Image 0" descr="fig7_fishb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40"/>
            <a:ext cx="7498080" cy="36740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Analyze: where outages come from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2527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562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impactful outages have power as the primary cause (2026, n=85)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7889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has been the top cause every year since 2020. The 2025 dip (45%) looks like an outlier.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0" y="1005840"/>
          <a:ext cx="50292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Analyze: root-cause verification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(full list on last slide):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datacenters.google/efficiency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uptimeinstitute.com/about-ui/press-releases/uptime-announces-annual-outage-analysis-report-20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deepmind.google/blog/deepmind-ai-reduces-google-data-centre-cooling-bill-by-40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Suspected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facilities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built in last ~5 years: PUE 1.48 vs 1.54 for all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20 MW sites: 1.44 vs 1.54 (2025)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climate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Singapore 1.12–1.15 vs fleet 1.09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 to +0.06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fleet Q3 mean 1.120 vs Q4 1.084 (computed)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cooling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cooling control: −40% cooling energy, −15% PUE overhead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−15% overhead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of human-error outages involve ignored or flawed procedures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 39%, transfer switch 34%, generator 28% of power outages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 of causes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Analyze: why chains 1 and 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Uptime Global Data Center Survey 2025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uptimeinstitute.com/about-ui/press-releases/uptime-announces-annual-outage-analysis-report-20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Uptime Outage Analysis 2025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synthesis of cited evidence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 stuck near 1.5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the industry average moved only 1.58 → 1.52 in 8 years.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18653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gains (containment, setpoints, controls) were taken by 2014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359152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304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upgrades in live legacy sites are costly and disruptive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798064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sites are &gt; 15 years old and kept for capacity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236976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1821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is often controlled by fixed rules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75888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36210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site-level efficiency roadmap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gains exhausted; legacy sites stay without a retrofit plan.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Outages still frequent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47% of operators had an impactful outage in 3 years.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663440" y="1920240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6344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120640" y="18653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is the top cause (56%)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2359152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6344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120640" y="2304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UPS, transfer switches and generators fail most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63440" y="2798064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6344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12064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not tested or operated as configured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63440" y="3236976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6344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120640" y="31821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human-error outages involve procedures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663440" y="3675888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66344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120640" y="36210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shortage: 53% cannot hire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3440" y="41148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75488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procedural discipline and testing on the power chain.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Analyze: why chains 3 and 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uptimeinstitute.com/about-ui/press-releases/uptime-announces-annual-outage-analysis-report-20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Uptime Outage Analysis 2025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eta-publications.lbl.gov/sites/default/files/2024-12/lbnl-2024-united-states-data-center-energy-usage-report_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LBNL 2024 U.S. Data Center Energy Report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synthesis of cited evidence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Preventability rising (80 → 89%)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89% of impactful outages are judged avoidable.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18653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is widespread (44% 2N, 40% N+1)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359152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304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only works if configured and tested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798064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change control are inconsistent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236976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1821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testing are under-funded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75888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36210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bought without process investment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redundancy is not paired with operational discipline.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blind spot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47% of operators do not track water use.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663440" y="1920240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6344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120640" y="186537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tracking is driven by regulation and public pressure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2359152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6344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120640" y="2304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is the headline KPI; water is outside it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63440" y="2798064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6344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12064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and WUE trade off (evaporative cooling saves energy)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63440" y="3236976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6344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120640" y="31821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are invisible without site-level data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663440" y="3675888"/>
            <a:ext cx="329184" cy="329184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663440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120640" y="36210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not a standard facility KPI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3440" y="41148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754880" y="4114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use is outside the standard KPI set.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Improve: countermeasures tied to verified causes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(full list on last slide):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uptimeinstitute.com/about-ui/press-releases/uptime-announces-annual-outage-analysis-report-20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deepmind.google/blog/deepmind-ai-reduces-google-data-centre-cooling-bill-by-40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eta-publications.lbl.gov/sites/default/files/2024-12/lbnl-2024-united-states-data-center-energy-usage-report_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gains exhausted; legacy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Containment, higher supply temperature, better controls; retire worst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First-wave measures took PUE 2.50 → 1.65 (2007–14); new builds reach ≤ 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Fixed-rule cooling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setpoint recommendations, advisory mode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−40% cooling energy, −15% PUE overhead; only 31% of operators allow AI setpoints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Power-chain failures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 maintenance and periodic transfer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 39%, switch 34%, generator 28% of power outages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Procedures ignored or flawed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SOP/MOP/EOP library, checklists, change gates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of human-error outages involve procedures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shortage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training; trade-school partnerships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 report hiring difficulty; electrical gap 38%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outside KPI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water; report WUE next to PUE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Modelled U.S. WUE ≈ 0.36 L/kWh; hyperscale 0.1–0.3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Improve: solution priority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discipline + change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Power-chain test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metering and WUE reporting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controls / ML advisory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Retrofit or retire legacy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6F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109728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5508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improvement goal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355080" y="16459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1.52 → ≤ 1.40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47% → ≤ 35%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89% → ≤ 75%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tracking 53% → ≥ 79%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the author's judgement, not data.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Improve: how far can controls take PUE?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eepmind.google/blog/deepmind-ai-reduces-google-data-centre-cooling-bill-by-40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 DeepMind cooling blog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datacenters.google/efficiency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 Google PUE data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computed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669280" y="10972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projection, not a pilot result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15% overhead cut (as at the Google site) would give PUE 1.442.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1.40 needs a 23% overhead cut.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optimisation alone is not enough: combine with retrofit or retirement of the least efficient sites.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Singapore (1.12–1.15) shows ≤ 1.15 is possible in the tropics at hyperscale.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Improve: 12-week action plan (proposed)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13258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256032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charter, CTQs, owners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21408" y="118872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70048" y="13258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700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212848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212848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231136" y="256032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PUE/WUE, outage log, procedure audit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785616" y="118872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34256" y="13258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3425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877056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877056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895344" y="256032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I-MR charts; Pareto of own outage causes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49824" y="118872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98464" y="13258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9846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541264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541264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8–10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559552" y="256032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Containment, controls, test plan, standard work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114032" y="118872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62672" y="1325880"/>
            <a:ext cx="457200" cy="45720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6267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205472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205472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223760" y="256032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owners, reaction plans, handover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team's job ends at handover; process owners carry the controls forward.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Control: control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554480"/>
                <a:gridCol w="128016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/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and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≤ 1.5; portfolio avg ≤ 1.40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I-MR, monthly (TTM reported)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outside limits or 8 above centre line: review controls, containment, meters in 5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Outage incidence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35% per 36 months; zero serious/severe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p-chart, quarterly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impactful outage: root-cause review; serious/severe: executive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75% avoidable; tests 100% on 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tests done vs planned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Procedures 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test or deviation: corrective action and retraining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79% of sites report WUE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meter or data: fix plan within one quarter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Control: a real control chart on measured PUE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s.google/efficiency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 Google PUE data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limits computed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0584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09360" y="1097280"/>
            <a:ext cx="2377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teaches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quarters sit inside the limits: a stable, well-controlled process.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(Q3) is always highest: 1.120 vs 1.084 in Q4 (computed).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chart trailing-twelve-month PUE, or allow for seasonality, to avoid false alarms.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74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Control: transfer to process owners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team's job ends at handover. From there, four owners carry it forward.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Engineering Manager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PUE standards and cooling controls; reviews the monthly I-MR chart.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691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240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outage log, p-chart and power-chain test schedule.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1089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Procedures Owner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SOP/MOP/EOP library, training and change control.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31089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Manager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657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water metering, WUE reporting and the KPI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impact per 1 MW of IT load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Uptime Global Data Center Survey 2026</a:t>
            </a:r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computed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52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13,315 MWh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562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energy per year at PUE 1.52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252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F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12,264 MWh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8562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energy per year at PUE 1.40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1430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2527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1,051 MWh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18562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 (−7.9%)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Outages: </a:t>
            </a:r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significant outages cost ≥ $100,000 and 19% exceed $1 million. Going from 47% to 35% incidence means about 12 fewer operators in 100 affected per three years.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convert to money, use the site's verified tariff, water price and outage-cost records.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is a stable process improving by less than 0.01 a year; 1.40 needs retrofit, not just control tuning.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incidence fell 74% → 47%, but the latest change is not significant and 89% of outages are still avoidable.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Power-chain equipment and procedural discipline dominate the causes.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published aggregates: re-run Measure and Analyze on your own site data before fixing targets.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are listed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(click to open)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515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Institute (Jul 2026). Global Data Center Survey 2026.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datacenter.uptimeinstitute.com/rs/711-RIA-145/images/UptimeInstitute.GlobalDataCenterSurvey.2026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550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Institute (Jul 2025). Global Data Center Survey 2025.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https://datacenter.uptimeinstitute.com/rs/711-RIA-145/images/2025.Annual.Survey.Report.pdf?version=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585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Institute (May 2025). Annual Outage Analysis 2025 (press release).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https://uptimeinstitute.com/about-ui/press-releases/uptime-announces-annual-outage-analysis-report-2025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862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Institute (May 2026). Annual Outage Analysis 2026 (press release).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https://uptimeinstitute.com/about-ui/press-releases/uptime-announces-annual-outage-analysis-report-202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4655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Shehabi et al. (Dec 2024). 2024 United States Data Center Energy Usage Report, LBNL.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eta-publications.lbl.gov/sites/default/files/2024-12/lbnl-2024-united-states-data-center-energy-usage-report_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69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Centers. Power usage effectiveness (to Q2 2026).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https://datacenters.google/efficiency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0515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Evans &amp; Gao (2016). DeepMind AI Reduces Google Data Centre Cooling Bill by 40%.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https://deepmind.google/blog/deepmind-ai-reduces-google-data-centre-cooling-bill-by-40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6550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&amp; Case (2023). German Energy Efficiency Act: data center requirements.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https://www.whitecase.com/insight-alert/data-center-requirements-under-new-german-energy-efficiency-a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2585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Gleiss Lutz (Feb 2026). EnEfG draft amendment.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https://www.gleisslutz.com/en/know-how/data-centre-update-draft-bill-amend-energy-efficiency-a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286207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Institute (Jul 2026). 16th Annual Survey press release.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https://uptimeinstitute.com/about-ui/press-releases/16th-annual-2026-global-data-center-survey-deployment-of-high-density-racks-rising-fast-operators-face-continued-recruiting-and-retention-pressur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4655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Intelligence (Jun 2026). Annual outage analysis 2026.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https://intelligence.uptimeinstitute.com/resource/annual-outage-analysis-202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4069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</a:t>
            </a:r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Berkeley Lab News (Jan 2025). Report on U.S. data center electricity demand. </a:t>
            </a:r>
            <a:endParaRPr lang="en-US" sz="105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https://newscenter.lbl.gov/2025/01/15/berkeley-lab-report-evaluates-increase-in-electricity-demand-from-data-centers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DMAIC Project: Data Center Energy Efficiency and Reliability</dc:title>
  <dc:subject>PptxGenJS Presentation</dc:subject>
  <dc:creator>Claude (Anthropic)</dc:creator>
  <cp:lastModifiedBy>Claude (Anthropic)</cp:lastModifiedBy>
  <cp:revision>1</cp:revision>
  <dcterms:created xsi:type="dcterms:W3CDTF">2026-09-30T15:30:09Z</dcterms:created>
  <dcterms:modified xsi:type="dcterms:W3CDTF">2026-09-30T15:30:09Z</dcterms:modified>
</cp:coreProperties>
</file>